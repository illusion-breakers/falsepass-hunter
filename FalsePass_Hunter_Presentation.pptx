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457200"/>
            <a:ext cx="1828800" cy="1828800"/>
          </a:xfrm>
          <a:prstGeom prst="rect">
            <a:avLst/>
          </a:prstGeom>
          <a:solidFill>
            <a:srgbClr val="06B6D4"/>
          </a:solidFill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528695" y="1215390"/>
            <a:ext cx="18288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🛡️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FALSEPASS HUNTER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AI-Powered Manufacturing Quality Analytics Platform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Presented by: </a:t>
            </a:r>
            <a:r>
              <a:rPr lang="en-US" sz="16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Illusion-Breakers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3F4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HackDKU 2026 | Track 3: Test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73152" cy="5486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Most Dangerous Product in a Factory</a:t>
            </a:r>
            <a:endParaRPr lang="en-US" sz="2800" b="1" dirty="0">
              <a:solidFill>
                <a:srgbClr val="1E3A8A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2560320"/>
          </a:xfrm>
          <a:prstGeom prst="rect">
            <a:avLst/>
          </a:prstGeom>
          <a:solidFill>
            <a:srgbClr val="ECFDF5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❌ FAILED PRODUCT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29184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Detected → Intercepted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Problem SOLVED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1188720"/>
            <a:ext cx="3657600" cy="2560320"/>
          </a:xfrm>
          <a:prstGeom prst="rect">
            <a:avLst/>
          </a:prstGeom>
          <a:solidFill>
            <a:srgbClr val="FEF2F2"/>
          </a:solidFill>
          <a:ln w="381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37160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 FALSE PASS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12080" y="1920240"/>
            <a:ext cx="329184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✗ Passed Testing → Has Defects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✗ Flows to CUSTOMER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✗ Problem HIDDEN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11" name="Text 9"/>
          <p:cNvSpPr/>
          <p:nvPr/>
        </p:nvSpPr>
        <p:spPr>
          <a:xfrm>
            <a:off x="731520" y="406908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"Products that fail are caught. Products that "pass" but have problems are not."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73152" cy="5486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False Pass Challenge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$2.4B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8288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Annual Loss from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False Passes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08960" y="128016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08960" y="14173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73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43%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108960" y="1874520"/>
            <a:ext cx="18288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of Defects Missed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by Traditional Testing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28016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14173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17x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760720" y="1874520"/>
            <a:ext cx="18288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Cost Multiplier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(Fix at Customer vs Production)</a:t>
            </a:r>
            <a:endParaRPr lang="en-US" sz="900" dirty="0">
              <a:solidFill>
                <a:srgbClr val="4B5563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rgbClr val="F0F9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80360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337560"/>
            <a:ext cx="76809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"Traditional testing asks: Pass or Fail?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 ask: Is this "Pass" trustworthy?"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73152" cy="5486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FalsePass Hunter - Credibility Review for Every Pass</a:t>
            </a:r>
            <a:endParaRPr lang="en-US" sz="2400" b="1" dirty="0">
              <a:solidFill>
                <a:srgbClr val="1E3A8A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3716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61872"/>
            <a:ext cx="1371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1463040"/>
            <a:ext cx="54864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32588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17520" y="1188720"/>
            <a:ext cx="13716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261872"/>
            <a:ext cx="1371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Traditional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463040"/>
            <a:ext cx="54864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1188720"/>
            <a:ext cx="1371600" cy="54864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261872"/>
            <a:ext cx="13716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PASS ✓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(Trust?)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737360"/>
            <a:ext cx="0" cy="45720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2377440"/>
            <a:ext cx="3657600" cy="640080"/>
          </a:xfrm>
          <a:prstGeom prst="rect">
            <a:avLst/>
          </a:prstGeom>
          <a:solidFill>
            <a:srgbClr val="06B6D4"/>
          </a:solidFill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0" y="246888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FALSEPASS HUNTER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Credibility Analysis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0" y="3017520"/>
            <a:ext cx="0" cy="45720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520440"/>
            <a:ext cx="2194560" cy="109728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749040"/>
            <a:ext cx="2194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TRUSTED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Release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74720" y="3520440"/>
            <a:ext cx="2194560" cy="1097280"/>
          </a:xfrm>
          <a:prstGeom prst="rect">
            <a:avLst/>
          </a:prstGeom>
          <a:solidFill>
            <a:srgbClr val="FEF3C7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3749040"/>
            <a:ext cx="2194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 SUSPICIOUS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Review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0" y="3520440"/>
            <a:ext cx="2194560" cy="1097280"/>
          </a:xfrm>
          <a:prstGeom prst="rect">
            <a:avLst/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3749040"/>
            <a:ext cx="2194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🚨 HIGH RISK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Intercept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"Not judging Pass/Fail. Judging CREDIBILITY."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73152" cy="5486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Built on Real Manufacturing Data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55920" cy="45720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5" name="Text 3"/>
          <p:cNvSpPr/>
          <p:nvPr/>
        </p:nvSpPr>
        <p:spPr>
          <a:xfrm>
            <a:off x="640080" y="1161415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📊 UCI SECOM Dataset - Real Semiconductor Manufacturing</a:t>
            </a:r>
            <a:endParaRPr lang="en-US" sz="13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457200" y="178308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457200" y="192024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1,567</a:t>
            </a:r>
            <a:endParaRPr lang="en-US" sz="32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457200" y="2377440"/>
            <a:ext cx="18288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Samples</a:t>
            </a:r>
            <a:endParaRPr lang="en-US" sz="1100" dirty="0"/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2286000" y="178308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2286000" y="192024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592</a:t>
            </a:r>
            <a:endParaRPr lang="en-US" sz="320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2286000" y="2377440"/>
            <a:ext cx="18288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4114800" y="178308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4114800" y="192024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Series</a:t>
            </a:r>
            <a:endParaRPr lang="en-US" sz="2000" b="1" dirty="0">
              <a:solidFill>
                <a:srgbClr val="3B82F6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4114800" y="2423160"/>
            <a:ext cx="18288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Type</a:t>
            </a:r>
            <a:endParaRPr lang="en-US" sz="1100" dirty="0"/>
          </a:p>
        </p:txBody>
      </p:sp>
      <p:sp>
        <p:nvSpPr>
          <p:cNvPr id="15" name="Shape 13"/>
          <p:cNvSpPr/>
          <p:nvPr>
            <p:custDataLst>
              <p:tags r:id="rId10"/>
            </p:custDataLst>
          </p:nvPr>
        </p:nvSpPr>
        <p:spPr>
          <a:xfrm>
            <a:off x="5943600" y="178308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5943600" y="1920240"/>
            <a:ext cx="186563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Semiconductor</a:t>
            </a:r>
            <a:endParaRPr lang="en-US" b="1" dirty="0">
              <a:solidFill>
                <a:srgbClr val="3B82F6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5943600" y="2377440"/>
            <a:ext cx="18288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Industry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19" name="Text 17"/>
          <p:cNvSpPr/>
          <p:nvPr/>
        </p:nvSpPr>
        <p:spPr>
          <a:xfrm>
            <a:off x="731520" y="324612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Structure: Time-Series Sensor Readings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611880"/>
            <a:ext cx="7680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Time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00:01 | Sensor_001: 234.5 | Sensor_002: 12.3 | ... | Result: PASS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00:02 | Sensor_001: 231.2 | Sensor_002: 11.8 | ... | Result: PASS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... (1,567 rows × 592 columns)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solidFill>
            <a:srgbClr val="FEF3C7"/>
          </a:solidFill>
        </p:spPr>
      </p:sp>
      <p:sp>
        <p:nvSpPr>
          <p:cNvPr id="22" name="Text 20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💡 Same data structure used in actual semiconductor fabs worldwide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73152" cy="5486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188720"/>
          </a:xfrm>
          <a:prstGeom prst="rect">
            <a:avLst/>
          </a:prstGeom>
          <a:solidFill>
            <a:srgbClr val="F0F9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📊 DATA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194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uci-secom.csv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1567×592 matrix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Raw Sensor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874520"/>
            <a:ext cx="54864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1280160"/>
            <a:ext cx="2560320" cy="1188720"/>
          </a:xfrm>
          <a:prstGeom prst="rect">
            <a:avLst/>
          </a:prstGeom>
          <a:solidFill>
            <a:srgbClr val="F0F9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37160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⚙️ BACKEND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0" y="1737360"/>
            <a:ext cx="2194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FastAPI + pandas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RESTful 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Risk Calculation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0" y="1874520"/>
            <a:ext cx="54864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0" y="1280160"/>
            <a:ext cx="2560320" cy="1188720"/>
          </a:xfrm>
          <a:prstGeom prst="rect">
            <a:avLst/>
          </a:prstGeom>
          <a:solidFill>
            <a:srgbClr val="F0F9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137160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💻 FRONTEND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06640" y="1737360"/>
            <a:ext cx="2194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React + Ant Design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Recharts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Interactive Dashboard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2560320" cy="109728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80360"/>
            <a:ext cx="2194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📥 Data Ingestion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Local/Cloud Storage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Automatic File Parsing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2743200"/>
            <a:ext cx="2560320" cy="1097280"/>
          </a:xfrm>
          <a:prstGeom prst="rect">
            <a:avLst/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880360"/>
            <a:ext cx="2194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⚡ Processing &amp; Compute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Drift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 Scoring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2743200"/>
            <a:ext cx="256032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880360"/>
            <a:ext cx="2194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📊 Visualization &amp; Export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Dashboard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PDF Report 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73152" cy="5486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 Analysis Modules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📊 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 Control Panel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Real-time metrics, alerts, and overview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37160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📈 DRIFT MONITOR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78308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Equipment Health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Tracks sensor drift over 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37160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🔀 CROSS STAGE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78308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Process Correlation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214884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Finds root causes across stages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91640" y="301752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74520" y="320040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 RISK REPORT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361188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Sample Assessment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74520" y="397764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Individual product credibility scores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320040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📝 LOG ANALYSIS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3611880"/>
            <a:ext cx="2194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AI-Powered Text Mining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97764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Extracts insights from test logs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73152" cy="5486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Dashboard - Production Status at a Glance</a:t>
            </a:r>
            <a:endParaRPr lang="en-US" sz="2800" b="1" dirty="0">
              <a:solidFill>
                <a:srgbClr val="1E3A8A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Today's Tests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1,567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1887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False Passes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42 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11887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 Alerts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 ⚠️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118872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Confidence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94% 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5740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 Trend (7-Day View)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423160"/>
            <a:ext cx="7315200" cy="146304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12" name="Text 10"/>
          <p:cNvSpPr/>
          <p:nvPr/>
        </p:nvSpPr>
        <p:spPr>
          <a:xfrm>
            <a:off x="1188720" y="3063240"/>
            <a:ext cx="6766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📈 Risk trending downward | System improving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393192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70916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Station Health: 4/6 Good | 2/6 Warning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4663440"/>
            <a:ext cx="393192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470916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</a:t>
            </a: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Risk Distribution: Low 54% | Med 32% | High 14%</a:t>
            </a:r>
            <a:endParaRPr lang="en-US" sz="1000" dirty="0">
              <a:solidFill>
                <a:srgbClr val="1F2937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73152" cy="5486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Drift Monitor - Preventing Equipment Drift</a:t>
            </a:r>
            <a:endParaRPr lang="en-US" sz="2800" b="1" dirty="0">
              <a:solidFill>
                <a:srgbClr val="1E3A8A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💡 Think of it like a bathroom scale... After years of use, it might show 95kg when you weigh 100kg. That's DRIFT. And it causes FALSE PASSES.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210312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7" name="Text 5"/>
          <p:cNvSpPr/>
          <p:nvPr/>
        </p:nvSpPr>
        <p:spPr>
          <a:xfrm>
            <a:off x="731520" y="214884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Drift Intensity Over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7680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━━━━━━━━━━━━━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(Drift gradually increases over time with Aug 15 spike)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🚨 ALERT: Spike Detected on Aug 15 - Equipment #3 Calibration Needed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24h / 7d / 30d time windows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Version history tracking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Automatic anomaly alerts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73152" cy="5486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Cross Stage - Finding the ROOT CAUSE</a:t>
            </a:r>
            <a:endParaRPr lang="en-US" sz="2400" b="1" dirty="0">
              <a:solidFill>
                <a:srgbClr val="1E3A8A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5" name="Shape 3"/>
          <p:cNvSpPr/>
          <p:nvPr/>
        </p:nvSpPr>
        <p:spPr>
          <a:xfrm>
            <a:off x="731520" y="1234440"/>
            <a:ext cx="1280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80160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Assembly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03120" y="12801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1234440"/>
            <a:ext cx="1280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280160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12801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0" y="1234440"/>
            <a:ext cx="1280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280160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Packaging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0" y="12801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1234440"/>
            <a:ext cx="1280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280160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Shipping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169164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If Stage 1 has issues, ALL later stages inherit them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solidFill>
            <a:srgbClr val="FEF3C7"/>
          </a:solidFill>
        </p:spPr>
      </p:sp>
      <p:sp>
        <p:nvSpPr>
          <p:cNvPr id="18" name="Text 16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📱 Real Example: A phone screen misaligned in assembly → Testing 100 times won't fix it → Root cause is ASSEMBLY, not TESTING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 Cross-Stage Analysis: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457200" y="3474720"/>
          <a:ext cx="8229600" cy="146304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Stage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Risk Score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Trend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Action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Assembly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78 🚨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↑ +12%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Investigate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Testing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34 ✓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→ Stable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Monitor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Packaging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45 ⚠️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↑ +5%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Watch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73152" cy="5486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 Report - Individual Product Assessment</a:t>
            </a:r>
            <a:endParaRPr lang="en-US" sz="2400" b="1" dirty="0">
              <a:solidFill>
                <a:srgbClr val="1E3A8A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5" name="Text 3"/>
          <p:cNvSpPr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Sample ID: SAMPLE-00142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0" y="118872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 Score: 75/100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56232"/>
            <a:ext cx="76809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Status: 🚨 HIGH RISK  •  Test Date: 2026-04-15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Evidence List: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8046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 Parameter A: 2.3σ above normal (Sensor ST03-M7)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 Parameter B: Drift detected in last 4h window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 Consistency: 3 consecutive borderline readings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 Breakdown: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7680960" cy="22860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13" name="Shape 11"/>
          <p:cNvSpPr/>
          <p:nvPr/>
        </p:nvSpPr>
        <p:spPr>
          <a:xfrm>
            <a:off x="640080" y="3977640"/>
            <a:ext cx="2688336" cy="2286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4" name="Text 12"/>
          <p:cNvSpPr/>
          <p:nvPr/>
        </p:nvSpPr>
        <p:spPr>
          <a:xfrm>
            <a:off x="3474720" y="3995928"/>
            <a:ext cx="3931920" cy="192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Drift: 35%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7680960" cy="22860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16" name="Shape 14"/>
          <p:cNvSpPr/>
          <p:nvPr/>
        </p:nvSpPr>
        <p:spPr>
          <a:xfrm>
            <a:off x="640080" y="4297680"/>
            <a:ext cx="3456432" cy="22860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17" name="Text 15"/>
          <p:cNvSpPr/>
          <p:nvPr/>
        </p:nvSpPr>
        <p:spPr>
          <a:xfrm>
            <a:off x="4206240" y="4315968"/>
            <a:ext cx="4114800" cy="192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Anomaly: 45%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617720"/>
            <a:ext cx="7680960" cy="22860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19" name="Shape 17"/>
          <p:cNvSpPr/>
          <p:nvPr/>
        </p:nvSpPr>
        <p:spPr>
          <a:xfrm>
            <a:off x="640080" y="4617720"/>
            <a:ext cx="1536192" cy="22860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0" name="Text 18"/>
          <p:cNvSpPr/>
          <p:nvPr/>
        </p:nvSpPr>
        <p:spPr>
          <a:xfrm>
            <a:off x="2286000" y="4636008"/>
            <a:ext cx="6035040" cy="192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Consistency: 20%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73152" cy="5486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FEF3C7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61872"/>
            <a:ext cx="7680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React 18.2  •  Ant Design 5.x  •  Recharts  •  html2pdf.js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solidFill>
            <a:srgbClr val="F0F9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30552"/>
            <a:ext cx="7680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FastAPI 0.100+  •  RESTful Endpoints  •  Data Validation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99232"/>
            <a:ext cx="7680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PROCESSING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pandas 2.x  •  NumPy  •  Statistical Analysis  •  Drift Detection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F3F4F6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67912"/>
            <a:ext cx="7680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UCI SECOM Dataset  •  1,567 × 592 matrix  •  Real semiconductor data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73152" cy="5486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FalsePass Hunter?</a:t>
            </a:r>
            <a:endParaRPr lang="en-US" sz="4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CRITERIA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Traditional QA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FalsePass Hunter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Focus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Detect FAILURES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Detect FALSE PASSES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Timing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Post-production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Real-time + Predictive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Question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Pass or Fail?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Is 'Pass' trustworthy?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Output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Binary result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Risk score + Evidence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Actionability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Reject/Accept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Review + Root cause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Export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Test log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PDF report + Archive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6" name="Text 3"/>
          <p:cNvSpPr/>
          <p:nvPr/>
        </p:nvSpPr>
        <p:spPr>
          <a:xfrm>
            <a:off x="731520" y="4645152"/>
            <a:ext cx="7680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"We're not replacing QA. We're adding a CREDIBILITY layer."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73152" cy="5486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Business Impact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288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17x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463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COST SAVINGS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(vs customer returns)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188720"/>
            <a:ext cx="18288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32588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73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51760" y="1783080"/>
            <a:ext cx="1463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FEWER DEFECTS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ESCAPED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1188720"/>
            <a:ext cx="18288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32588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$2.4M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63440" y="1783080"/>
            <a:ext cx="1463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ANNUAL LOSS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PREVENTED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1188720"/>
            <a:ext cx="18288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32588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94%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675120" y="1783080"/>
            <a:ext cx="1463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 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(Pilot Result)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Applicable Industries: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Semiconductor Manufacturing     </a:t>
            </a: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Electronics Assembly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Automotive Components     </a:t>
            </a: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Medical Device Production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Aerospace Quality Control     </a:t>
            </a: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Battery Manufacturing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FEF3C7"/>
          </a:solidFill>
        </p:spPr>
      </p:sp>
      <p:sp>
        <p:nvSpPr>
          <p:cNvPr id="19" name="Text 17"/>
          <p:cNvSpPr/>
          <p:nvPr/>
        </p:nvSpPr>
        <p:spPr>
          <a:xfrm>
            <a:off x="731520" y="4434840"/>
            <a:ext cx="7680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⚡ Deployment: Can connect to factory MES/SCADA systems within 2 weeks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0" y="457200"/>
            <a:ext cx="2286000" cy="2286000"/>
          </a:xfrm>
          <a:prstGeom prst="rect">
            <a:avLst/>
          </a:prstGeom>
          <a:solidFill>
            <a:srgbClr val="06B6D4"/>
          </a:solidFill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211195" y="1476375"/>
            <a:ext cx="22860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🛡️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FALSEPASS HUNTER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"Not judging Pass/Fail.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Judging CREDIBILITY."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33905" y="4339590"/>
            <a:ext cx="5539105" cy="4648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1645920" y="4297680"/>
            <a:ext cx="5852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Team: </a:t>
            </a:r>
            <a:r>
              <a:rPr lang="en-US" sz="1200" b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Illusion-Breakers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06B6D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Mission: Illuminating the truth through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 | Questions?</a:t>
            </a:r>
            <a:endParaRPr lang="en-US" sz="1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86.4,&quot;left&quot;:36,&quot;top&quot;:140.4,&quot;width&quot;:578.9}"/>
</p:tagLst>
</file>

<file path=ppt/tags/tag2.xml><?xml version="1.0" encoding="utf-8"?>
<p:tagLst xmlns:p="http://schemas.openxmlformats.org/presentationml/2006/main">
  <p:tag name="KSO_WM_DIAGRAM_VIRTUALLY_FRAME" val="{&quot;height&quot;:86.4,&quot;left&quot;:36,&quot;top&quot;:140.4,&quot;width&quot;:578.9}"/>
</p:tagLst>
</file>

<file path=ppt/tags/tag3.xml><?xml version="1.0" encoding="utf-8"?>
<p:tagLst xmlns:p="http://schemas.openxmlformats.org/presentationml/2006/main">
  <p:tag name="KSO_WM_DIAGRAM_VIRTUALLY_FRAME" val="{&quot;height&quot;:86.4,&quot;left&quot;:36,&quot;top&quot;:140.4,&quot;width&quot;:578.9}"/>
</p:tagLst>
</file>

<file path=ppt/tags/tag4.xml><?xml version="1.0" encoding="utf-8"?>
<p:tagLst xmlns:p="http://schemas.openxmlformats.org/presentationml/2006/main">
  <p:tag name="KSO_WM_DIAGRAM_VIRTUALLY_FRAME" val="{&quot;height&quot;:86.4,&quot;left&quot;:36,&quot;top&quot;:140.4,&quot;width&quot;:578.9}"/>
</p:tagLst>
</file>

<file path=ppt/tags/tag5.xml><?xml version="1.0" encoding="utf-8"?>
<p:tagLst xmlns:p="http://schemas.openxmlformats.org/presentationml/2006/main">
  <p:tag name="KSO_WM_DIAGRAM_VIRTUALLY_FRAME" val="{&quot;height&quot;:86.4,&quot;left&quot;:36,&quot;top&quot;:140.4,&quot;width&quot;:578.9}"/>
</p:tagLst>
</file>

<file path=ppt/tags/tag6.xml><?xml version="1.0" encoding="utf-8"?>
<p:tagLst xmlns:p="http://schemas.openxmlformats.org/presentationml/2006/main">
  <p:tag name="KSO_WM_DIAGRAM_VIRTUALLY_FRAME" val="{&quot;height&quot;:86.4,&quot;left&quot;:36,&quot;top&quot;:140.4,&quot;width&quot;:578.9}"/>
</p:tagLst>
</file>

<file path=ppt/tags/tag7.xml><?xml version="1.0" encoding="utf-8"?>
<p:tagLst xmlns:p="http://schemas.openxmlformats.org/presentationml/2006/main">
  <p:tag name="KSO_WM_DIAGRAM_VIRTUALLY_FRAME" val="{&quot;height&quot;:86.4,&quot;left&quot;:36,&quot;top&quot;:140.4,&quot;width&quot;:578.9}"/>
</p:tagLst>
</file>

<file path=ppt/tags/tag8.xml><?xml version="1.0" encoding="utf-8"?>
<p:tagLst xmlns:p="http://schemas.openxmlformats.org/presentationml/2006/main">
  <p:tag name="KSO_WM_DIAGRAM_VIRTUALLY_FRAME" val="{&quot;height&quot;:86.4,&quot;left&quot;:36,&quot;top&quot;:140.4,&quot;width&quot;:578.9}"/>
</p:tagLst>
</file>

<file path=ppt/tags/tag9.xml><?xml version="1.0" encoding="utf-8"?>
<p:tagLst xmlns:p="http://schemas.openxmlformats.org/presentationml/2006/main">
  <p:tag name="KSO_WM_DIAGRAM_VIRTUALLY_FRAME" val="{&quot;height&quot;:86.4,&quot;left&quot;:36,&quot;top&quot;:140.4,&quot;width&quot;:578.9}"/>
</p:tagLst>
</file>

<file path=ppt/tags/tag10.xml><?xml version="1.0" encoding="utf-8"?>
<p:tagLst xmlns:p="http://schemas.openxmlformats.org/presentationml/2006/main">
  <p:tag name="KSO_WM_DIAGRAM_VIRTUALLY_FRAME" val="{&quot;height&quot;:86.4,&quot;left&quot;:36,&quot;top&quot;:140.4,&quot;width&quot;:578.9}"/>
</p:tagLst>
</file>

<file path=ppt/tags/tag11.xml><?xml version="1.0" encoding="utf-8"?>
<p:tagLst xmlns:p="http://schemas.openxmlformats.org/presentationml/2006/main">
  <p:tag name="KSO_WM_DIAGRAM_VIRTUALLY_FRAME" val="{&quot;height&quot;:86.4,&quot;left&quot;:36,&quot;top&quot;:140.4,&quot;width&quot;:578.9}"/>
</p:tagLst>
</file>

<file path=ppt/tags/tag12.xml><?xml version="1.0" encoding="utf-8"?>
<p:tagLst xmlns:p="http://schemas.openxmlformats.org/presentationml/2006/main">
  <p:tag name="KSO_WM_DIAGRAM_VIRTUALLY_FRAME" val="{&quot;height&quot;:86.4,&quot;left&quot;:36,&quot;top&quot;:140.4,&quot;width&quot;:578.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4656</Words>
  <Application>WPS 演示</Application>
  <PresentationFormat>On-screen Show (16:9)</PresentationFormat>
  <Paragraphs>391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Arial</vt:lpstr>
      <vt:lpstr>Arial</vt:lpstr>
      <vt:lpstr>Courier New</vt:lpstr>
      <vt:lpstr>Courier New</vt:lpstr>
      <vt:lpstr>Courier New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FalsePass Hunter - AI Manufacturing Quality Analytics</dc:title>
  <dc:creator>Illusion-Breakers</dc:creator>
  <dc:subject>PptxGenJS Presentation</dc:subject>
  <cp:lastModifiedBy>筱语~</cp:lastModifiedBy>
  <cp:revision>2</cp:revision>
  <dcterms:created xsi:type="dcterms:W3CDTF">2026-04-16T07:53:00Z</dcterms:created>
  <dcterms:modified xsi:type="dcterms:W3CDTF">2026-04-16T07:59:13Z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38FE1001020942D1B5179F6D2E652F28_13</vt:lpwstr>
  </property>
  <property fmtid="{D5CDD505-2E9C-101B-9397-08002B2CF9AE}" pid="3" name="KSOProductBuildVer">
    <vt:lpwstr>2052-12.1.0.23542</vt:lpwstr>
  </property>
</Properties>
</file>